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Data Science with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 Comprehensive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is Data Science?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Interdisciplinary field combining statistics, programming, and domain expertise</a:t>
            </a:r>
          </a:p>
          <a:p>
            <a:pPr>
              <a:spcAft>
                <a:spcPts val="1200"/>
              </a:spcAft>
              <a:defRPr sz="2000"/>
            </a:pPr>
            <a:r>
              <a:t>• Extracts knowledge and insights from structured and unstructured data</a:t>
            </a:r>
          </a:p>
          <a:p>
            <a:pPr>
              <a:spcAft>
                <a:spcPts val="1200"/>
              </a:spcAft>
              <a:defRPr sz="2000"/>
            </a:pPr>
            <a:r>
              <a:t>• Uses scientific methods, algorithms, and systems</a:t>
            </a:r>
          </a:p>
          <a:p>
            <a:pPr>
              <a:spcAft>
                <a:spcPts val="1200"/>
              </a:spcAft>
              <a:defRPr sz="2000"/>
            </a:pPr>
            <a:r>
              <a:t>• Drives decision-making in businesses and organizations</a:t>
            </a:r>
          </a:p>
          <a:p>
            <a:pPr>
              <a:spcAft>
                <a:spcPts val="1200"/>
              </a:spcAft>
              <a:defRPr sz="2000"/>
            </a:pPr>
            <a:r>
              <a:t>• One of the fastest-growing career fields globally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Data Science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Define the problem and objectives</a:t>
            </a:r>
          </a:p>
          <a:p>
            <a:pPr>
              <a:spcAft>
                <a:spcPts val="1200"/>
              </a:spcAft>
              <a:defRPr sz="2000"/>
            </a:pPr>
            <a:r>
              <a:t>• 2. Collect and gather relevant data</a:t>
            </a:r>
          </a:p>
          <a:p>
            <a:pPr>
              <a:spcAft>
                <a:spcPts val="1200"/>
              </a:spcAft>
              <a:defRPr sz="2000"/>
            </a:pPr>
            <a:r>
              <a:t>• 3. Clean and preprocess the data</a:t>
            </a:r>
          </a:p>
          <a:p>
            <a:pPr>
              <a:spcAft>
                <a:spcPts val="1200"/>
              </a:spcAft>
              <a:defRPr sz="2000"/>
            </a:pPr>
            <a:r>
              <a:t>• 4. Explore and visualize patterns</a:t>
            </a:r>
          </a:p>
          <a:p>
            <a:pPr>
              <a:spcAft>
                <a:spcPts val="1200"/>
              </a:spcAft>
              <a:defRPr sz="2000"/>
            </a:pPr>
            <a:r>
              <a:t>• 5. Build and train models</a:t>
            </a:r>
          </a:p>
          <a:p>
            <a:pPr>
              <a:spcAft>
                <a:spcPts val="1200"/>
              </a:spcAft>
              <a:defRPr sz="2000"/>
            </a:pPr>
            <a:r>
              <a:t>• 6. Evaluate and validate results</a:t>
            </a:r>
          </a:p>
          <a:p>
            <a:pPr>
              <a:spcAft>
                <a:spcPts val="1200"/>
              </a:spcAft>
              <a:defRPr sz="2000"/>
            </a:pPr>
            <a:r>
              <a:t>• 7. Deploy and monitor in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Essential Python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NumPy - Numerical computing and array operations</a:t>
            </a:r>
          </a:p>
          <a:p>
            <a:pPr>
              <a:spcAft>
                <a:spcPts val="1200"/>
              </a:spcAft>
              <a:defRPr sz="2000"/>
            </a:pPr>
            <a:r>
              <a:t>• Pandas - Data manipulation and analysis</a:t>
            </a:r>
          </a:p>
          <a:p>
            <a:pPr>
              <a:spcAft>
                <a:spcPts val="1200"/>
              </a:spcAft>
              <a:defRPr sz="2000"/>
            </a:pPr>
            <a:r>
              <a:t>• Matplotlib/Seaborn - Data visualization</a:t>
            </a:r>
          </a:p>
          <a:p>
            <a:pPr>
              <a:spcAft>
                <a:spcPts val="1200"/>
              </a:spcAft>
              <a:defRPr sz="2000"/>
            </a:pPr>
            <a:r>
              <a:t>• Scikit-learn - Machine learning algorithms</a:t>
            </a:r>
          </a:p>
          <a:p>
            <a:pPr>
              <a:spcAft>
                <a:spcPts val="1200"/>
              </a:spcAft>
              <a:defRPr sz="2000"/>
            </a:pPr>
            <a:r>
              <a:t>• TensorFlow/PyTorch - Deep learning frameworks</a:t>
            </a:r>
          </a:p>
          <a:p>
            <a:pPr>
              <a:spcAft>
                <a:spcPts val="1200"/>
              </a:spcAft>
              <a:defRPr sz="2000"/>
            </a:pPr>
            <a:r>
              <a:t>• Jupyter Notebooks - Interactive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Types of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Supervised Learning: Learn from labeled examples</a:t>
            </a:r>
          </a:p>
          <a:p>
            <a:pPr>
              <a:spcAft>
                <a:spcPts val="1200"/>
              </a:spcAft>
              <a:defRPr sz="2000"/>
            </a:pPr>
            <a:r>
              <a:t>•   - Classification (spam detection, image recognition)</a:t>
            </a:r>
          </a:p>
          <a:p>
            <a:pPr>
              <a:spcAft>
                <a:spcPts val="1200"/>
              </a:spcAft>
              <a:defRPr sz="2000"/>
            </a:pPr>
            <a:r>
              <a:t>•   - Regression (price prediction, forecasting)</a:t>
            </a:r>
          </a:p>
          <a:p>
            <a:pPr>
              <a:spcAft>
                <a:spcPts val="1200"/>
              </a:spcAft>
              <a:defRPr sz="2000"/>
            </a:pPr>
            <a:r>
              <a:t>• Unsupervised Learning: Find patterns in unlabeled data</a:t>
            </a:r>
          </a:p>
          <a:p>
            <a:pPr>
              <a:spcAft>
                <a:spcPts val="1200"/>
              </a:spcAft>
              <a:defRPr sz="2000"/>
            </a:pPr>
            <a:r>
              <a:t>•   - Clustering (customer segmentation)</a:t>
            </a:r>
          </a:p>
          <a:p>
            <a:pPr>
              <a:spcAft>
                <a:spcPts val="1200"/>
              </a:spcAft>
              <a:defRPr sz="2000"/>
            </a:pPr>
            <a:r>
              <a:t>•   - Dimensionality reduction (PCA)</a:t>
            </a:r>
          </a:p>
          <a:p>
            <a:pPr>
              <a:spcAft>
                <a:spcPts val="1200"/>
              </a:spcAft>
              <a:defRPr sz="2000"/>
            </a:pPr>
            <a:r>
              <a:t>• Reinforcement Learning: Learn through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 Preprocessing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Handle missing values (imputation or removal)</a:t>
            </a:r>
          </a:p>
          <a:p>
            <a:pPr>
              <a:spcAft>
                <a:spcPts val="1200"/>
              </a:spcAft>
              <a:defRPr sz="2000"/>
            </a:pPr>
            <a:r>
              <a:t>• Remove or treat outliers</a:t>
            </a:r>
          </a:p>
          <a:p>
            <a:pPr>
              <a:spcAft>
                <a:spcPts val="1200"/>
              </a:spcAft>
              <a:defRPr sz="2000"/>
            </a:pPr>
            <a:r>
              <a:t>• Encode categorical variables</a:t>
            </a:r>
          </a:p>
          <a:p>
            <a:pPr>
              <a:spcAft>
                <a:spcPts val="1200"/>
              </a:spcAft>
              <a:defRPr sz="2000"/>
            </a:pPr>
            <a:r>
              <a:t>• Scale and normalize numerical features</a:t>
            </a:r>
          </a:p>
          <a:p>
            <a:pPr>
              <a:spcAft>
                <a:spcPts val="1200"/>
              </a:spcAft>
              <a:defRPr sz="2000"/>
            </a:pPr>
            <a:r>
              <a:t>• Feature selection and engineering</a:t>
            </a:r>
          </a:p>
          <a:p>
            <a:pPr>
              <a:spcAft>
                <a:spcPts val="1200"/>
              </a:spcAft>
              <a:defRPr sz="2000"/>
            </a:pPr>
            <a:r>
              <a:t>• Split data into training and test 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Model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Classification: Accuracy, Precision, Recall, F1-Score, ROC-AUC</a:t>
            </a:r>
          </a:p>
          <a:p>
            <a:pPr>
              <a:spcAft>
                <a:spcPts val="1200"/>
              </a:spcAft>
              <a:defRPr sz="2000"/>
            </a:pPr>
            <a:r>
              <a:t>• Regression: MSE, RMSE, MAE, R-squared</a:t>
            </a:r>
          </a:p>
          <a:p>
            <a:pPr>
              <a:spcAft>
                <a:spcPts val="1200"/>
              </a:spcAft>
              <a:defRPr sz="2000"/>
            </a:pPr>
            <a:r>
              <a:t>• Cross-validation for robust evaluation</a:t>
            </a:r>
          </a:p>
          <a:p>
            <a:pPr>
              <a:spcAft>
                <a:spcPts val="1200"/>
              </a:spcAft>
              <a:defRPr sz="2000"/>
            </a:pPr>
            <a:r>
              <a:t>• Confusion matrix for detailed analysis</a:t>
            </a:r>
          </a:p>
          <a:p>
            <a:pPr>
              <a:spcAft>
                <a:spcPts val="1200"/>
              </a:spcAft>
              <a:defRPr sz="2000"/>
            </a:pPr>
            <a:r>
              <a:t>• Learning curves to detect overfitting/underfitting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Career Paths in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Data Analyst - Focus on insights and reporting</a:t>
            </a:r>
          </a:p>
          <a:p>
            <a:pPr>
              <a:spcAft>
                <a:spcPts val="1200"/>
              </a:spcAft>
              <a:defRPr sz="2000"/>
            </a:pPr>
            <a:r>
              <a:t>• Data Scientist - End-to-end ML solutions</a:t>
            </a:r>
          </a:p>
          <a:p>
            <a:pPr>
              <a:spcAft>
                <a:spcPts val="1200"/>
              </a:spcAft>
              <a:defRPr sz="2000"/>
            </a:pPr>
            <a:r>
              <a:t>• Machine Learning Engineer - Production ML systems</a:t>
            </a:r>
          </a:p>
          <a:p>
            <a:pPr>
              <a:spcAft>
                <a:spcPts val="1200"/>
              </a:spcAft>
              <a:defRPr sz="2000"/>
            </a:pPr>
            <a:r>
              <a:t>• Data Engineer - Data pipelines and infrastructure</a:t>
            </a:r>
          </a:p>
          <a:p>
            <a:pPr>
              <a:spcAft>
                <a:spcPts val="1200"/>
              </a:spcAft>
              <a:defRPr sz="2000"/>
            </a:pPr>
            <a:r>
              <a:t>• AI Research Scientist - Advancing the field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Data science combines multiple disciplines</a:t>
            </a:r>
          </a:p>
          <a:p>
            <a:pPr>
              <a:spcAft>
                <a:spcPts val="1200"/>
              </a:spcAft>
              <a:defRPr sz="2000"/>
            </a:pPr>
            <a:r>
              <a:t>• Python is the leading language for data science</a:t>
            </a:r>
          </a:p>
          <a:p>
            <a:pPr>
              <a:spcAft>
                <a:spcPts val="1200"/>
              </a:spcAft>
              <a:defRPr sz="2000"/>
            </a:pPr>
            <a:r>
              <a:t>• Start with fundamentals: statistics and programming</a:t>
            </a:r>
          </a:p>
          <a:p>
            <a:pPr>
              <a:spcAft>
                <a:spcPts val="1200"/>
              </a:spcAft>
              <a:defRPr sz="2000"/>
            </a:pPr>
            <a:r>
              <a:t>• Practice with real datasets and projects</a:t>
            </a:r>
          </a:p>
          <a:p>
            <a:pPr>
              <a:spcAft>
                <a:spcPts val="1200"/>
              </a:spcAft>
              <a:defRPr sz="2000"/>
            </a:pPr>
            <a:r>
              <a:t>• Continuous learning is essential</a:t>
            </a:r>
          </a:p>
          <a:p>
            <a:pPr>
              <a:spcAft>
                <a:spcPts val="1200"/>
              </a:spcAft>
              <a:defRPr sz="2000"/>
            </a:pPr>
            <a:r>
              <a:t>• Communication skills are as important as technical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